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7;p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9;p3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17;p7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;p4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21;p9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5;p6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19;p8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6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7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1533960" y="1440000"/>
            <a:ext cx="6206040" cy="13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121212"/>
                </a:solidFill>
                <a:latin typeface="Times New Roman"/>
              </a:rPr>
              <a:t>Desarrollo de una Aplicación de Mini-Casino</a:t>
            </a:r>
            <a:endParaRPr b="0" lang="es-ES" sz="4000" spc="-1" strike="noStrike"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787680" y="3209760"/>
            <a:ext cx="731484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424242"/>
                </a:solidFill>
                <a:latin typeface="Times New Roman"/>
              </a:rPr>
              <a:t>Proyecto Final de Grado DAM</a:t>
            </a:r>
            <a:endParaRPr b="0" lang="es-E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424242"/>
                </a:solidFill>
                <a:latin typeface="Times New Roman"/>
              </a:rPr>
              <a:t>Daniel de las Heras Zarzuelo</a:t>
            </a:r>
            <a:endParaRPr b="0" lang="es-ES" sz="2000" spc="-1" strike="noStrike">
              <a:latin typeface="Arial"/>
            </a:endParaRPr>
          </a:p>
        </p:txBody>
      </p:sp>
      <p:pic>
        <p:nvPicPr>
          <p:cNvPr id="275" name="" descr=""/>
          <p:cNvPicPr/>
          <p:nvPr/>
        </p:nvPicPr>
        <p:blipFill>
          <a:blip r:embed="rId1"/>
          <a:stretch/>
        </p:blipFill>
        <p:spPr>
          <a:xfrm>
            <a:off x="7740000" y="247680"/>
            <a:ext cx="139608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>
            <a:off x="1781280" y="751320"/>
            <a:ext cx="548604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424242"/>
                </a:solidFill>
                <a:latin typeface="Times New Roman"/>
              </a:rPr>
              <a:t>Introducción</a:t>
            </a:r>
            <a:endParaRPr b="0" lang="es-ES" sz="4000" spc="-1" strike="noStrike"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914400" y="1635120"/>
            <a:ext cx="7314840" cy="31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24242"/>
                </a:solidFill>
                <a:latin typeface="Times New Roman"/>
              </a:rPr>
              <a:t>Este proyecto presenta el desarrollo de una aplicación de mini-casino para dispositivos Android, incluyendo juegos clásicos como Blackjack, Ruleta y Tragamonedas. El objetivo es ofrecer una experiencia de usuario intuitiva y entretenida.</a:t>
            </a:r>
            <a:endParaRPr b="0" lang="es-ES" sz="2800" spc="-1" strike="noStrike">
              <a:latin typeface="Arial"/>
            </a:endParaRPr>
          </a:p>
        </p:txBody>
      </p:sp>
      <p:pic>
        <p:nvPicPr>
          <p:cNvPr id="278" name="" descr=""/>
          <p:cNvPicPr/>
          <p:nvPr/>
        </p:nvPicPr>
        <p:blipFill>
          <a:blip r:embed="rId1"/>
          <a:stretch/>
        </p:blipFill>
        <p:spPr>
          <a:xfrm>
            <a:off x="7740000" y="247680"/>
            <a:ext cx="139608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914400" y="1028880"/>
            <a:ext cx="73148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21212"/>
                </a:solidFill>
                <a:latin typeface="Times New Roman"/>
              </a:rPr>
              <a:t>Objetivo del Proyecto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914400" y="1800360"/>
            <a:ext cx="7314840" cy="22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Desarrollo de una aplicación móvil centrada en un mini-casino.</a:t>
            </a:r>
            <a:endParaRPr b="0" lang="es-ES" sz="2000" spc="-1" strike="noStrike">
              <a:latin typeface="Arial"/>
            </a:endParaRPr>
          </a:p>
          <a:p>
            <a:endParaRPr b="0" lang="es-ES" sz="2000" spc="-1" strike="noStrike">
              <a:latin typeface="Arial"/>
            </a:endParaRPr>
          </a:p>
          <a:p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Incluirá tres juegos clásicos: Ruleta, Blackjack y Tragamonedas en la primera versión.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Enfoque en la calidad y funcionalidad básica antes de añadir más contenido.</a:t>
            </a:r>
            <a:endParaRPr b="0" lang="es-ES" sz="2000" spc="-1" strike="noStrike">
              <a:latin typeface="Arial"/>
            </a:endParaRPr>
          </a:p>
        </p:txBody>
      </p:sp>
      <p:pic>
        <p:nvPicPr>
          <p:cNvPr id="281" name="" descr=""/>
          <p:cNvPicPr/>
          <p:nvPr/>
        </p:nvPicPr>
        <p:blipFill>
          <a:blip r:embed="rId1"/>
          <a:stretch/>
        </p:blipFill>
        <p:spPr>
          <a:xfrm>
            <a:off x="7740000" y="247680"/>
            <a:ext cx="139608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>
            <a:off x="914400" y="1028880"/>
            <a:ext cx="73148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21212"/>
                </a:solidFill>
                <a:latin typeface="Times New Roman"/>
              </a:rPr>
              <a:t>Justificación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914400" y="1800360"/>
            <a:ext cx="7314840" cy="13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Brindar una experiencia de casino accesible y entretenida.</a:t>
            </a:r>
            <a:endParaRPr b="0" lang="es-ES" sz="2000" spc="-1" strike="noStrike">
              <a:latin typeface="Arial"/>
            </a:endParaRPr>
          </a:p>
          <a:p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Diferenciación respecto a otras aplicaciones al no requerir compromisos económicos.</a:t>
            </a:r>
            <a:endParaRPr b="0" lang="es-ES" sz="2000" spc="-1" strike="noStrike">
              <a:latin typeface="Arial"/>
            </a:endParaRPr>
          </a:p>
        </p:txBody>
      </p:sp>
      <p:pic>
        <p:nvPicPr>
          <p:cNvPr id="284" name="" descr=""/>
          <p:cNvPicPr/>
          <p:nvPr/>
        </p:nvPicPr>
        <p:blipFill>
          <a:blip r:embed="rId1"/>
          <a:stretch/>
        </p:blipFill>
        <p:spPr>
          <a:xfrm>
            <a:off x="7740000" y="247680"/>
            <a:ext cx="139608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>
            <a:off x="914400" y="1028880"/>
            <a:ext cx="73148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21212"/>
                </a:solidFill>
                <a:latin typeface="Times New Roman"/>
              </a:rPr>
              <a:t>Desarrollo Técnico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914400" y="1800360"/>
            <a:ext cx="7314840" cy="25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-Uso de Kotlin con Jetpack Compose para la interfaz de usuario.</a:t>
            </a:r>
            <a:endParaRPr b="0" lang="es-ES" sz="2000" spc="-1" strike="noStrike">
              <a:latin typeface="Arial"/>
            </a:endParaRPr>
          </a:p>
          <a:p>
            <a:endParaRPr b="0" lang="es-ES" sz="2000" spc="-1" strike="noStrike">
              <a:latin typeface="Arial"/>
            </a:endParaRPr>
          </a:p>
          <a:p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Java con Jakarta EE 10 para construir el REST API.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MySQL como sistema de gestión de base de datos, modelado mediante Workbench.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MongoDB como sistema de gestión no relacional.</a:t>
            </a:r>
            <a:endParaRPr b="0" lang="es-ES" sz="2000" spc="-1" strike="noStrike">
              <a:latin typeface="Arial"/>
            </a:endParaRPr>
          </a:p>
        </p:txBody>
      </p:sp>
      <p:pic>
        <p:nvPicPr>
          <p:cNvPr id="287" name="" descr=""/>
          <p:cNvPicPr/>
          <p:nvPr/>
        </p:nvPicPr>
        <p:blipFill>
          <a:blip r:embed="rId1"/>
          <a:stretch/>
        </p:blipFill>
        <p:spPr>
          <a:xfrm>
            <a:off x="7740000" y="1620000"/>
            <a:ext cx="540000" cy="540000"/>
          </a:xfrm>
          <a:prstGeom prst="rect">
            <a:avLst/>
          </a:prstGeom>
          <a:ln w="0">
            <a:noFill/>
          </a:ln>
        </p:spPr>
      </p:pic>
      <p:pic>
        <p:nvPicPr>
          <p:cNvPr id="288" name="" descr=""/>
          <p:cNvPicPr/>
          <p:nvPr/>
        </p:nvPicPr>
        <p:blipFill>
          <a:blip r:embed="rId2"/>
          <a:stretch/>
        </p:blipFill>
        <p:spPr>
          <a:xfrm>
            <a:off x="6725520" y="2221920"/>
            <a:ext cx="474480" cy="658080"/>
          </a:xfrm>
          <a:prstGeom prst="rect">
            <a:avLst/>
          </a:prstGeom>
          <a:ln w="0">
            <a:noFill/>
          </a:ln>
        </p:spPr>
      </p:pic>
      <p:pic>
        <p:nvPicPr>
          <p:cNvPr id="289" name="" descr=""/>
          <p:cNvPicPr/>
          <p:nvPr/>
        </p:nvPicPr>
        <p:blipFill>
          <a:blip r:embed="rId3"/>
          <a:stretch/>
        </p:blipFill>
        <p:spPr>
          <a:xfrm>
            <a:off x="7604280" y="2656440"/>
            <a:ext cx="1271160" cy="1271160"/>
          </a:xfrm>
          <a:prstGeom prst="rect">
            <a:avLst/>
          </a:prstGeom>
          <a:ln w="0">
            <a:noFill/>
          </a:ln>
        </p:spPr>
      </p:pic>
      <p:pic>
        <p:nvPicPr>
          <p:cNvPr id="290" name="" descr=""/>
          <p:cNvPicPr/>
          <p:nvPr/>
        </p:nvPicPr>
        <p:blipFill>
          <a:blip r:embed="rId4"/>
          <a:stretch/>
        </p:blipFill>
        <p:spPr>
          <a:xfrm>
            <a:off x="6238080" y="3780000"/>
            <a:ext cx="781920" cy="781920"/>
          </a:xfrm>
          <a:prstGeom prst="rect">
            <a:avLst/>
          </a:prstGeom>
          <a:ln w="0">
            <a:noFill/>
          </a:ln>
        </p:spPr>
      </p:pic>
      <p:pic>
        <p:nvPicPr>
          <p:cNvPr id="291" name="" descr=""/>
          <p:cNvPicPr/>
          <p:nvPr/>
        </p:nvPicPr>
        <p:blipFill>
          <a:blip r:embed="rId5"/>
          <a:stretch/>
        </p:blipFill>
        <p:spPr>
          <a:xfrm>
            <a:off x="7740000" y="247680"/>
            <a:ext cx="139608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"/>
          <p:cNvSpPr/>
          <p:nvPr/>
        </p:nvSpPr>
        <p:spPr>
          <a:xfrm>
            <a:off x="914400" y="1028880"/>
            <a:ext cx="73148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21212"/>
                </a:solidFill>
                <a:latin typeface="Times New Roman"/>
              </a:rPr>
              <a:t>Estructura de la Aplicación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914400" y="1800360"/>
            <a:ext cx="7314840" cy="13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Arquitectura de cliente-servidor para separar la lógica de negocio y la presentación.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Aplicación funcional, modular y fácilmente expandible.</a:t>
            </a:r>
            <a:endParaRPr b="0" lang="es-ES" sz="2000" spc="-1" strike="noStrike">
              <a:latin typeface="Arial"/>
            </a:endParaRPr>
          </a:p>
        </p:txBody>
      </p:sp>
      <p:pic>
        <p:nvPicPr>
          <p:cNvPr id="294" name="" descr=""/>
          <p:cNvPicPr/>
          <p:nvPr/>
        </p:nvPicPr>
        <p:blipFill>
          <a:blip r:embed="rId1"/>
          <a:stretch/>
        </p:blipFill>
        <p:spPr>
          <a:xfrm>
            <a:off x="3060000" y="3111120"/>
            <a:ext cx="2718720" cy="1631160"/>
          </a:xfrm>
          <a:prstGeom prst="rect">
            <a:avLst/>
          </a:prstGeom>
          <a:ln w="0">
            <a:noFill/>
          </a:ln>
        </p:spPr>
      </p:pic>
      <p:pic>
        <p:nvPicPr>
          <p:cNvPr id="295" name="" descr=""/>
          <p:cNvPicPr/>
          <p:nvPr/>
        </p:nvPicPr>
        <p:blipFill>
          <a:blip r:embed="rId2"/>
          <a:stretch/>
        </p:blipFill>
        <p:spPr>
          <a:xfrm>
            <a:off x="7740000" y="247680"/>
            <a:ext cx="139608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>
            <a:off x="914400" y="1028880"/>
            <a:ext cx="73148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21212"/>
                </a:solidFill>
                <a:latin typeface="Times New Roman"/>
              </a:rPr>
              <a:t>Desafíos y Soluciones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914400" y="1800360"/>
            <a:ext cx="7314840" cy="16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Manejo de dificultades técnicas relacionadas con navegaciones y JWT para la sesión del usuario.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Implementación de interceptores y manejo de excepciones para mejorar la estabilidad de la aplicación.</a:t>
            </a:r>
            <a:endParaRPr b="0" lang="es-ES" sz="2000" spc="-1" strike="noStrike">
              <a:latin typeface="Arial"/>
            </a:endParaRPr>
          </a:p>
        </p:txBody>
      </p:sp>
      <p:pic>
        <p:nvPicPr>
          <p:cNvPr id="298" name="" descr=""/>
          <p:cNvPicPr/>
          <p:nvPr/>
        </p:nvPicPr>
        <p:blipFill>
          <a:blip r:embed="rId1"/>
          <a:stretch/>
        </p:blipFill>
        <p:spPr>
          <a:xfrm>
            <a:off x="7740000" y="247680"/>
            <a:ext cx="139608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>
            <a:off x="914400" y="1028880"/>
            <a:ext cx="73148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21212"/>
                </a:solidFill>
                <a:latin typeface="Times New Roman"/>
              </a:rPr>
              <a:t>Funcionalidades Pendientes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914400" y="1800360"/>
            <a:ext cx="7314840" cy="16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Integración completa del juego de tragamonedas.</a:t>
            </a:r>
            <a:endParaRPr b="0" lang="es-ES" sz="2000" spc="-1" strike="noStrike">
              <a:latin typeface="Arial"/>
            </a:endParaRPr>
          </a:p>
          <a:p>
            <a:endParaRPr b="0" lang="es-ES" sz="2000" spc="-1" strike="noStrike">
              <a:latin typeface="Arial"/>
            </a:endParaRPr>
          </a:p>
          <a:p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Sistema de recargas y transacciones económicas.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Opción para gestionar cuentas de usuario.</a:t>
            </a:r>
            <a:endParaRPr b="0" lang="es-ES" sz="2000" spc="-1" strike="noStrike">
              <a:latin typeface="Arial"/>
            </a:endParaRPr>
          </a:p>
        </p:txBody>
      </p:sp>
      <p:pic>
        <p:nvPicPr>
          <p:cNvPr id="301" name="" descr=""/>
          <p:cNvPicPr/>
          <p:nvPr/>
        </p:nvPicPr>
        <p:blipFill>
          <a:blip r:embed="rId1"/>
          <a:stretch/>
        </p:blipFill>
        <p:spPr>
          <a:xfrm>
            <a:off x="6288840" y="884880"/>
            <a:ext cx="2531160" cy="2531160"/>
          </a:xfrm>
          <a:prstGeom prst="rect">
            <a:avLst/>
          </a:prstGeom>
          <a:ln w="0">
            <a:noFill/>
          </a:ln>
        </p:spPr>
      </p:pic>
      <p:pic>
        <p:nvPicPr>
          <p:cNvPr id="302" name="" descr=""/>
          <p:cNvPicPr/>
          <p:nvPr/>
        </p:nvPicPr>
        <p:blipFill>
          <a:blip r:embed="rId2"/>
          <a:stretch/>
        </p:blipFill>
        <p:spPr>
          <a:xfrm>
            <a:off x="6408720" y="2520000"/>
            <a:ext cx="990720" cy="1080000"/>
          </a:xfrm>
          <a:prstGeom prst="rect">
            <a:avLst/>
          </a:prstGeom>
          <a:ln w="0">
            <a:noFill/>
          </a:ln>
        </p:spPr>
      </p:pic>
      <p:pic>
        <p:nvPicPr>
          <p:cNvPr id="303" name="" descr=""/>
          <p:cNvPicPr/>
          <p:nvPr/>
        </p:nvPicPr>
        <p:blipFill>
          <a:blip r:embed="rId3"/>
          <a:stretch/>
        </p:blipFill>
        <p:spPr>
          <a:xfrm>
            <a:off x="7391160" y="2520000"/>
            <a:ext cx="1260000" cy="1260000"/>
          </a:xfrm>
          <a:prstGeom prst="rect">
            <a:avLst/>
          </a:prstGeom>
          <a:ln w="0">
            <a:noFill/>
          </a:ln>
        </p:spPr>
      </p:pic>
      <p:pic>
        <p:nvPicPr>
          <p:cNvPr id="304" name="" descr=""/>
          <p:cNvPicPr/>
          <p:nvPr/>
        </p:nvPicPr>
        <p:blipFill>
          <a:blip r:embed="rId4"/>
          <a:stretch/>
        </p:blipFill>
        <p:spPr>
          <a:xfrm>
            <a:off x="7740000" y="247680"/>
            <a:ext cx="139608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>
            <a:off x="914400" y="1028880"/>
            <a:ext cx="73148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21212"/>
                </a:solidFill>
                <a:latin typeface="Times New Roman"/>
              </a:rPr>
              <a:t>Mejoras Técnicas Futuras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914400" y="1800360"/>
            <a:ext cx="7314840" cy="16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Optimización de rendimiento y reducción de latencia.</a:t>
            </a:r>
            <a:endParaRPr b="0" lang="es-ES" sz="2000" spc="-1" strike="noStrike">
              <a:latin typeface="Arial"/>
            </a:endParaRPr>
          </a:p>
          <a:p>
            <a:endParaRPr b="0" lang="es-ES" sz="2000" spc="-1" strike="noStrike">
              <a:latin typeface="Arial"/>
            </a:endParaRPr>
          </a:p>
          <a:p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Añadir notificaciones y soporte multi-idioma.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24242"/>
                </a:solidFill>
                <a:latin typeface="Times New Roman"/>
              </a:rPr>
              <a:t>- Mejoras de accesibilidad y ampliación de juegos.</a:t>
            </a:r>
            <a:endParaRPr b="0" lang="es-ES" sz="2000" spc="-1" strike="noStrike">
              <a:latin typeface="Arial"/>
            </a:endParaRPr>
          </a:p>
        </p:txBody>
      </p:sp>
      <p:pic>
        <p:nvPicPr>
          <p:cNvPr id="307" name="" descr=""/>
          <p:cNvPicPr/>
          <p:nvPr/>
        </p:nvPicPr>
        <p:blipFill>
          <a:blip r:embed="rId1"/>
          <a:stretch/>
        </p:blipFill>
        <p:spPr>
          <a:xfrm>
            <a:off x="6768720" y="2160360"/>
            <a:ext cx="791280" cy="899640"/>
          </a:xfrm>
          <a:prstGeom prst="rect">
            <a:avLst/>
          </a:prstGeom>
          <a:ln w="0">
            <a:noFill/>
          </a:ln>
        </p:spPr>
      </p:pic>
      <p:pic>
        <p:nvPicPr>
          <p:cNvPr id="308" name="" descr=""/>
          <p:cNvPicPr/>
          <p:nvPr/>
        </p:nvPicPr>
        <p:blipFill>
          <a:blip r:embed="rId2"/>
          <a:stretch/>
        </p:blipFill>
        <p:spPr>
          <a:xfrm>
            <a:off x="7560000" y="1980000"/>
            <a:ext cx="1440000" cy="1440000"/>
          </a:xfrm>
          <a:prstGeom prst="rect">
            <a:avLst/>
          </a:prstGeom>
          <a:ln w="0">
            <a:noFill/>
          </a:ln>
        </p:spPr>
      </p:pic>
      <p:pic>
        <p:nvPicPr>
          <p:cNvPr id="309" name="" descr=""/>
          <p:cNvPicPr/>
          <p:nvPr/>
        </p:nvPicPr>
        <p:blipFill>
          <a:blip r:embed="rId3"/>
          <a:stretch/>
        </p:blipFill>
        <p:spPr>
          <a:xfrm>
            <a:off x="7740000" y="247680"/>
            <a:ext cx="139608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>
            <a:off x="1828800" y="1028880"/>
            <a:ext cx="548604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424242"/>
                </a:solidFill>
                <a:latin typeface="Times New Roman"/>
              </a:rPr>
              <a:t>Conclusión</a:t>
            </a:r>
            <a:endParaRPr b="0" lang="es-ES" sz="4000" spc="-1" strike="noStrike"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914400" y="1800360"/>
            <a:ext cx="7314840" cy="21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24242"/>
                </a:solidFill>
                <a:latin typeface="Times New Roman"/>
              </a:rPr>
              <a:t>El proyecto ha cumplido con sus metas técnicas y educativas, y se abre a futuras mejoras que permitirán expandir la funcionalidad y mejorar la experiencia del usuario.</a:t>
            </a:r>
            <a:endParaRPr b="0" lang="es-ES" sz="2800" spc="-1" strike="noStrike">
              <a:latin typeface="Arial"/>
            </a:endParaRPr>
          </a:p>
        </p:txBody>
      </p:sp>
      <p:pic>
        <p:nvPicPr>
          <p:cNvPr id="312" name="" descr=""/>
          <p:cNvPicPr/>
          <p:nvPr/>
        </p:nvPicPr>
        <p:blipFill>
          <a:blip r:embed="rId1"/>
          <a:stretch/>
        </p:blipFill>
        <p:spPr>
          <a:xfrm>
            <a:off x="7740000" y="247680"/>
            <a:ext cx="139608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>
            <a:off x="1893960" y="1800000"/>
            <a:ext cx="5486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424242"/>
                </a:solidFill>
                <a:latin typeface="Times New Roman"/>
              </a:rPr>
              <a:t>¡Gracias!</a:t>
            </a:r>
            <a:endParaRPr b="0" lang="es-ES" sz="6000" spc="-1" strike="noStrike"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1828800" y="2057400"/>
            <a:ext cx="5486040" cy="16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5" name="" descr=""/>
          <p:cNvPicPr/>
          <p:nvPr/>
        </p:nvPicPr>
        <p:blipFill>
          <a:blip r:embed="rId1"/>
          <a:stretch/>
        </p:blipFill>
        <p:spPr>
          <a:xfrm>
            <a:off x="7740000" y="247680"/>
            <a:ext cx="139608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LibreOffice/7.3.2.2$Windows_X86_64 LibreOffice_project/49f2b1bff42cfccbd8f788c8dc32c1c309559be0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2025-06-01T19:21:58Z</dcterms:created>
  <dc:creator>Unknown Creator</dc:creator>
  <dc:description/>
  <dc:language>es-ES</dc:language>
  <cp:lastModifiedBy/>
  <dcterms:modified xsi:type="dcterms:W3CDTF">2025-06-01T21:54:03Z</dcterms:modified>
  <cp:revision>2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i4>12</vt:i4>
  </property>
</Properties>
</file>